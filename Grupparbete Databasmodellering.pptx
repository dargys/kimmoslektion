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78" r:id="rId5"/>
    <p:sldId id="263" r:id="rId6"/>
    <p:sldId id="280" r:id="rId7"/>
    <p:sldId id="288" r:id="rId8"/>
    <p:sldId id="281" r:id="rId9"/>
    <p:sldId id="282" r:id="rId10"/>
    <p:sldId id="283" r:id="rId11"/>
    <p:sldId id="287" r:id="rId12"/>
    <p:sldId id="286" r:id="rId13"/>
    <p:sldId id="279" r:id="rId1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032E7B-360F-4A95-AB15-0770811AC57F}" v="60" dt="2026-03-12T13:14:24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83543" autoAdjust="0"/>
  </p:normalViewPr>
  <p:slideViewPr>
    <p:cSldViewPr snapToGrid="0">
      <p:cViewPr varScale="1">
        <p:scale>
          <a:sx n="81" d="100"/>
          <a:sy n="81" d="100"/>
        </p:scale>
        <p:origin x="5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B7C0F-4A64-469C-BD3E-CACC280D5A10}" type="datetimeFigureOut">
              <a:t>2026-03-11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316F3-CC55-4668-B0D9-7CB180CA12C3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36601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Hur </a:t>
            </a:r>
            <a:r>
              <a:rPr lang="en-GB" dirty="0" err="1"/>
              <a:t>tabellerna</a:t>
            </a:r>
            <a:r>
              <a:rPr lang="en-GB" dirty="0"/>
              <a:t> </a:t>
            </a:r>
            <a:r>
              <a:rPr lang="sv-SE"/>
              <a:t>är kop</a:t>
            </a:r>
            <a:endParaRPr lang="en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316F3-CC55-4668-B0D9-7CB180CA12C3}" type="slidenum">
              <a:rPr lang="en-SE" smtClean="0"/>
              <a:t>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99122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45E9D-8A9D-7716-0569-231FBC4C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2061C470-02AD-8155-4D9F-45462B9A7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C333D259-55CF-ED07-9B48-22ED72E1A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Hur </a:t>
            </a:r>
            <a:r>
              <a:rPr lang="en-GB" dirty="0" err="1"/>
              <a:t>tabellerna</a:t>
            </a:r>
            <a:r>
              <a:rPr lang="en-GB" dirty="0"/>
              <a:t> </a:t>
            </a:r>
            <a:r>
              <a:rPr lang="sv-SE"/>
              <a:t>är kop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F8B0D3B3-7C5C-EB53-6C9B-91CF9EB75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316F3-CC55-4668-B0D9-7CB180CA12C3}" type="slidenum">
              <a:rPr lang="en-SE" smtClean="0"/>
              <a:t>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15164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D5C7E-B4D7-B9D7-A0FE-B99710FC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5E155027-2C8C-F32D-24E5-5FB428003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C30784B6-F977-D488-3FF9-AA4666FB8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Konceptuellt (Entitet och attribut) - Fysisk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21BE379-0559-FEF2-583E-0E35DB83D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316F3-CC55-4668-B0D9-7CB180CA12C3}" type="slidenum">
              <a:rPr lang="en-SE" smtClean="0"/>
              <a:t>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04074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94F5D-2372-98EB-B69D-D86F0B57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D22FD0DE-5792-2F95-5D4A-40C5EEF5B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E7D352A1-C007-7B2A-8960-6B9392E1E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Hur </a:t>
            </a:r>
            <a:r>
              <a:rPr lang="en-GB" dirty="0" err="1"/>
              <a:t>tabellerna</a:t>
            </a:r>
            <a:r>
              <a:rPr lang="en-GB" dirty="0"/>
              <a:t> </a:t>
            </a:r>
            <a:r>
              <a:rPr lang="sv-SE"/>
              <a:t>är kop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C2E5525-638C-A96A-5D2E-7DFBAB7A6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316F3-CC55-4668-B0D9-7CB180CA12C3}" type="slidenum">
              <a:rPr lang="en-SE" smtClean="0"/>
              <a:t>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33213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EF774-0CFC-9388-32E7-768E63F0D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B65AA5FC-096B-B9B5-9801-08815973B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14B4755C-4D72-75F8-00AD-57A6109BA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Hur </a:t>
            </a:r>
            <a:r>
              <a:rPr lang="en-GB" dirty="0" err="1"/>
              <a:t>tabellerna</a:t>
            </a:r>
            <a:r>
              <a:rPr lang="en-GB" dirty="0"/>
              <a:t> </a:t>
            </a:r>
            <a:r>
              <a:rPr lang="sv-SE"/>
              <a:t>är kop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A22368F-6475-545B-9B2A-2020E39E1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316F3-CC55-4668-B0D9-7CB180CA12C3}" type="slidenum">
              <a:rPr lang="en-SE" smtClean="0"/>
              <a:t>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61281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DEAF7-6D7A-54EC-B941-9A8B4FB5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C990232F-6D96-E48D-7CFD-D684ABB89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667563EF-EB61-2901-E198-2EF5BB041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Hur </a:t>
            </a:r>
            <a:r>
              <a:rPr lang="en-GB" dirty="0" err="1"/>
              <a:t>tabellerna</a:t>
            </a:r>
            <a:r>
              <a:rPr lang="en-GB" dirty="0"/>
              <a:t> </a:t>
            </a:r>
            <a:r>
              <a:rPr lang="sv-SE"/>
              <a:t>är kop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A66BDFF-86D4-B113-AA05-E1CD1C7B7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316F3-CC55-4668-B0D9-7CB180CA12C3}" type="slidenum">
              <a:rPr lang="en-SE" smtClean="0"/>
              <a:t>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62116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8E0C-1AAA-C498-5BBF-0FC71CE9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>
            <a:extLst>
              <a:ext uri="{FF2B5EF4-FFF2-40B4-BE49-F238E27FC236}">
                <a16:creationId xmlns:a16="http://schemas.microsoft.com/office/drawing/2014/main" id="{D6591E2C-F95B-5CA8-5F69-64F289391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>
            <a:extLst>
              <a:ext uri="{FF2B5EF4-FFF2-40B4-BE49-F238E27FC236}">
                <a16:creationId xmlns:a16="http://schemas.microsoft.com/office/drawing/2014/main" id="{0952A60A-D0F6-4D25-FD49-CFFFADAFF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Hur </a:t>
            </a:r>
            <a:r>
              <a:rPr lang="en-GB" dirty="0" err="1"/>
              <a:t>tabellerna</a:t>
            </a:r>
            <a:r>
              <a:rPr lang="en-GB" dirty="0"/>
              <a:t> </a:t>
            </a:r>
            <a:r>
              <a:rPr lang="sv-SE"/>
              <a:t>är kop</a:t>
            </a:r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034961D-DC32-F479-4EE2-9CB6B2AD2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0316F3-CC55-4668-B0D9-7CB180CA12C3}" type="slidenum">
              <a:rPr lang="en-SE" smtClean="0"/>
              <a:t>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55857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2026-03-11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C:\Users\Ilena\Documents\DataBase%20Modellering\NetOnNet.drawio.html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C:\Users\Ilena\Documents\DataBase%20Modellering\Star%20and%20Snowflake.drawio.html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DA9D3-2B63-33F0-6EF5-943C06CE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C8D2A427-E990-849B-054A-49CAE633CF60}"/>
              </a:ext>
            </a:extLst>
          </p:cNvPr>
          <p:cNvSpPr/>
          <p:nvPr/>
        </p:nvSpPr>
        <p:spPr>
          <a:xfrm>
            <a:off x="0" y="4701230"/>
            <a:ext cx="12192000" cy="2153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8" name="Bild 7" descr="Netonnet Logo">
            <a:extLst>
              <a:ext uri="{FF2B5EF4-FFF2-40B4-BE49-F238E27FC236}">
                <a16:creationId xmlns:a16="http://schemas.microsoft.com/office/drawing/2014/main" id="{67A97D3F-1771-A2F1-0AED-F973CCA61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4718" y="1426672"/>
            <a:ext cx="7772400" cy="1734820"/>
          </a:xfrm>
          <a:prstGeom prst="rect">
            <a:avLst/>
          </a:prstGeom>
        </p:spPr>
      </p:pic>
      <p:pic>
        <p:nvPicPr>
          <p:cNvPr id="2" name="Bildobjekt 1" descr="Application - SWE">
            <a:extLst>
              <a:ext uri="{FF2B5EF4-FFF2-40B4-BE49-F238E27FC236}">
                <a16:creationId xmlns:a16="http://schemas.microsoft.com/office/drawing/2014/main" id="{9F6CB941-0EBE-A87D-8B31-4102F9FA9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506" y="5541363"/>
            <a:ext cx="43148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6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D0FC3-7F61-9EDA-8001-21D3191E7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5BFB714E-065C-BEB1-3492-1EC86B035BAE}"/>
              </a:ext>
            </a:extLst>
          </p:cNvPr>
          <p:cNvSpPr/>
          <p:nvPr/>
        </p:nvSpPr>
        <p:spPr>
          <a:xfrm>
            <a:off x="508000" y="497840"/>
            <a:ext cx="11155680" cy="588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5" name="Bild 4" descr="Netonnet Logo">
            <a:extLst>
              <a:ext uri="{FF2B5EF4-FFF2-40B4-BE49-F238E27FC236}">
                <a16:creationId xmlns:a16="http://schemas.microsoft.com/office/drawing/2014/main" id="{CFEB75B5-20BC-AC80-83EA-B13C0C3B0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3559" y="5874418"/>
            <a:ext cx="1628775" cy="3429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D12D93CC-1F84-D5C0-37E9-2921F78E9E86}"/>
              </a:ext>
            </a:extLst>
          </p:cNvPr>
          <p:cNvSpPr txBox="1">
            <a:spLocks/>
          </p:cNvSpPr>
          <p:nvPr/>
        </p:nvSpPr>
        <p:spPr>
          <a:xfrm>
            <a:off x="946734" y="8634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b="1" dirty="0">
                <a:latin typeface="Segoe UI"/>
                <a:ea typeface="+mj-lt"/>
                <a:cs typeface="Segoe UI"/>
              </a:rPr>
              <a:t>Vilka problem vill vi lösa? </a:t>
            </a:r>
            <a:endParaRPr lang="sv-SE" dirty="0">
              <a:latin typeface="Segoe UI"/>
              <a:cs typeface="Segoe UI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46641B3-9B59-6020-568C-CF85A66F216F}"/>
              </a:ext>
            </a:extLst>
          </p:cNvPr>
          <p:cNvSpPr txBox="1">
            <a:spLocks/>
          </p:cNvSpPr>
          <p:nvPr/>
        </p:nvSpPr>
        <p:spPr>
          <a:xfrm>
            <a:off x="828040" y="2777980"/>
            <a:ext cx="10515600" cy="30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sv-SE" i="1" dirty="0">
                <a:latin typeface="Segoe UI"/>
                <a:cs typeface="Segoe UI"/>
              </a:rPr>
              <a:t>Krav 1:</a:t>
            </a:r>
            <a:r>
              <a:rPr lang="sv-SE" dirty="0">
                <a:latin typeface="Segoe UI"/>
                <a:cs typeface="Segoe UI"/>
              </a:rPr>
              <a:t> Databasen ska vara enbart för </a:t>
            </a:r>
            <a:r>
              <a:rPr lang="sv-SE" dirty="0" err="1">
                <a:latin typeface="Segoe UI"/>
                <a:cs typeface="Segoe UI"/>
              </a:rPr>
              <a:t>webshoppen</a:t>
            </a:r>
            <a:endParaRPr lang="sv-SE" dirty="0">
              <a:latin typeface="Segoe UI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sv-SE" i="1" dirty="0">
                <a:latin typeface="Segoe UI"/>
                <a:cs typeface="Segoe UI"/>
              </a:rPr>
              <a:t>Krav 2: </a:t>
            </a:r>
            <a:r>
              <a:rPr lang="sv-SE" dirty="0">
                <a:latin typeface="Segoe UI"/>
                <a:cs typeface="Segoe UI"/>
              </a:rPr>
              <a:t>Ett simpelt och lättnavigerat system</a:t>
            </a:r>
          </a:p>
          <a:p>
            <a:pPr>
              <a:lnSpc>
                <a:spcPct val="150000"/>
              </a:lnSpc>
            </a:pPr>
            <a:r>
              <a:rPr lang="sv-SE" i="1" dirty="0">
                <a:latin typeface="Segoe UI"/>
                <a:ea typeface="+mn-lt"/>
                <a:cs typeface="Segoe UI"/>
              </a:rPr>
              <a:t>Krav 3:</a:t>
            </a:r>
            <a:r>
              <a:rPr lang="sv-SE" dirty="0">
                <a:latin typeface="Segoe UI"/>
                <a:ea typeface="+mn-lt"/>
                <a:cs typeface="Segoe UI"/>
              </a:rPr>
              <a:t> Enbart analys av försäljningen</a:t>
            </a:r>
          </a:p>
          <a:p>
            <a:pPr>
              <a:lnSpc>
                <a:spcPct val="150000"/>
              </a:lnSpc>
            </a:pPr>
            <a:r>
              <a:rPr lang="sv-SE" i="1" dirty="0">
                <a:latin typeface="Segoe UI"/>
                <a:ea typeface="+mn-lt"/>
                <a:cs typeface="Segoe UI"/>
              </a:rPr>
              <a:t>Krav 4:</a:t>
            </a:r>
            <a:r>
              <a:rPr lang="sv-SE" dirty="0">
                <a:latin typeface="Segoe UI"/>
                <a:ea typeface="+mn-lt"/>
                <a:cs typeface="Segoe UI"/>
              </a:rPr>
              <a:t> Ska vara skalbart!</a:t>
            </a:r>
          </a:p>
        </p:txBody>
      </p:sp>
    </p:spTree>
    <p:extLst>
      <p:ext uri="{BB962C8B-B14F-4D97-AF65-F5344CB8AC3E}">
        <p14:creationId xmlns:p14="http://schemas.microsoft.com/office/powerpoint/2010/main" val="93213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A4337-7F59-B3B4-F30C-3303028B5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0DB174C-819E-4D6D-B967-923F6A29D0E7}"/>
              </a:ext>
            </a:extLst>
          </p:cNvPr>
          <p:cNvSpPr/>
          <p:nvPr/>
        </p:nvSpPr>
        <p:spPr>
          <a:xfrm>
            <a:off x="508000" y="497840"/>
            <a:ext cx="11155680" cy="588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5" name="Bild 4" descr="Netonnet Logo">
            <a:extLst>
              <a:ext uri="{FF2B5EF4-FFF2-40B4-BE49-F238E27FC236}">
                <a16:creationId xmlns:a16="http://schemas.microsoft.com/office/drawing/2014/main" id="{DA7BC08E-E726-E40B-E6CC-0DD3ED779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3559" y="5874418"/>
            <a:ext cx="1628775" cy="3429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F6B2F9FE-E40D-3280-B4EA-DE0E13D04921}"/>
              </a:ext>
            </a:extLst>
          </p:cNvPr>
          <p:cNvSpPr txBox="1">
            <a:spLocks/>
          </p:cNvSpPr>
          <p:nvPr/>
        </p:nvSpPr>
        <p:spPr>
          <a:xfrm>
            <a:off x="946734" y="8634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v-SE" dirty="0">
              <a:latin typeface="Segoe UI"/>
              <a:cs typeface="Segoe UI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D0E7685-25CD-4853-F96D-6DFC699508F5}"/>
              </a:ext>
            </a:extLst>
          </p:cNvPr>
          <p:cNvSpPr txBox="1">
            <a:spLocks/>
          </p:cNvSpPr>
          <p:nvPr/>
        </p:nvSpPr>
        <p:spPr>
          <a:xfrm>
            <a:off x="828040" y="2777980"/>
            <a:ext cx="10515600" cy="30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sv-SE" dirty="0">
              <a:latin typeface="Segoe UI"/>
              <a:ea typeface="+mn-lt"/>
              <a:cs typeface="Segoe UI"/>
            </a:endParaRPr>
          </a:p>
        </p:txBody>
      </p:sp>
      <p:sp>
        <p:nvSpPr>
          <p:cNvPr id="6" name="Rubrik 1">
            <a:extLst>
              <a:ext uri="{FF2B5EF4-FFF2-40B4-BE49-F238E27FC236}">
                <a16:creationId xmlns:a16="http://schemas.microsoft.com/office/drawing/2014/main" id="{8A460C71-8649-5FE5-76AD-5A1259D79133}"/>
              </a:ext>
            </a:extLst>
          </p:cNvPr>
          <p:cNvSpPr txBox="1">
            <a:spLocks/>
          </p:cNvSpPr>
          <p:nvPr/>
        </p:nvSpPr>
        <p:spPr>
          <a:xfrm>
            <a:off x="946734" y="5686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b="1" dirty="0">
                <a:latin typeface="Segoe UI"/>
                <a:ea typeface="+mj-lt"/>
                <a:cs typeface="Segoe UI"/>
              </a:rPr>
              <a:t>Vår lösning!</a:t>
            </a:r>
            <a:endParaRPr lang="sv-SE" dirty="0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6A44121-48C9-7419-8936-2C163DA867C0}"/>
              </a:ext>
            </a:extLst>
          </p:cNvPr>
          <p:cNvSpPr txBox="1">
            <a:spLocks/>
          </p:cNvSpPr>
          <p:nvPr/>
        </p:nvSpPr>
        <p:spPr>
          <a:xfrm>
            <a:off x="946734" y="2667804"/>
            <a:ext cx="10515600" cy="27277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sv-SE" dirty="0">
                <a:latin typeface="Segoe UI"/>
                <a:cs typeface="Segoe UI"/>
              </a:rPr>
              <a:t>Flöde:</a:t>
            </a:r>
          </a:p>
          <a:p>
            <a:pPr>
              <a:lnSpc>
                <a:spcPct val="150000"/>
              </a:lnSpc>
            </a:pPr>
            <a:r>
              <a:rPr lang="sv-SE" dirty="0">
                <a:latin typeface="Segoe UI"/>
                <a:cs typeface="Segoe UI"/>
              </a:rPr>
              <a:t>Webben –&gt; Relationsdatabas –&gt; Analysdatabas</a:t>
            </a:r>
          </a:p>
        </p:txBody>
      </p:sp>
    </p:spTree>
    <p:extLst>
      <p:ext uri="{BB962C8B-B14F-4D97-AF65-F5344CB8AC3E}">
        <p14:creationId xmlns:p14="http://schemas.microsoft.com/office/powerpoint/2010/main" val="44050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CB597-5900-24BC-6987-1353A270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F31D8BB1-BF91-097B-8CB4-7FFA204D6681}"/>
              </a:ext>
            </a:extLst>
          </p:cNvPr>
          <p:cNvSpPr/>
          <p:nvPr/>
        </p:nvSpPr>
        <p:spPr>
          <a:xfrm>
            <a:off x="508000" y="497840"/>
            <a:ext cx="11155680" cy="588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5" name="Bild 4" descr="Netonnet Logo">
            <a:extLst>
              <a:ext uri="{FF2B5EF4-FFF2-40B4-BE49-F238E27FC236}">
                <a16:creationId xmlns:a16="http://schemas.microsoft.com/office/drawing/2014/main" id="{BF4BFEA4-7937-0282-854B-2B2E74E3D0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3559" y="5874418"/>
            <a:ext cx="1628775" cy="3429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C62A7756-204B-A6A8-37A5-2BA7573C06C7}"/>
              </a:ext>
            </a:extLst>
          </p:cNvPr>
          <p:cNvSpPr txBox="1">
            <a:spLocks/>
          </p:cNvSpPr>
          <p:nvPr/>
        </p:nvSpPr>
        <p:spPr>
          <a:xfrm>
            <a:off x="946734" y="8634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v-SE" dirty="0">
              <a:latin typeface="Segoe UI"/>
              <a:cs typeface="Segoe UI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E896E08-5521-E467-B1FC-9899102D1A13}"/>
              </a:ext>
            </a:extLst>
          </p:cNvPr>
          <p:cNvSpPr txBox="1">
            <a:spLocks/>
          </p:cNvSpPr>
          <p:nvPr/>
        </p:nvSpPr>
        <p:spPr>
          <a:xfrm>
            <a:off x="828040" y="2777980"/>
            <a:ext cx="10515600" cy="30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sv-SE" dirty="0">
              <a:latin typeface="Segoe UI"/>
              <a:ea typeface="+mn-lt"/>
              <a:cs typeface="Segoe UI"/>
            </a:endParaRP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C9B62DC4-4762-6600-6FDF-A2BD306FB5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98" y="0"/>
            <a:ext cx="119084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E4D4F-CD61-F021-8F13-7EF6EF6B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75EC6ED3-EE37-51AB-1CEA-A1093C9674A7}"/>
              </a:ext>
            </a:extLst>
          </p:cNvPr>
          <p:cNvSpPr/>
          <p:nvPr/>
        </p:nvSpPr>
        <p:spPr>
          <a:xfrm>
            <a:off x="508000" y="497840"/>
            <a:ext cx="11155680" cy="588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5" name="Bild 4" descr="Netonnet Logo">
            <a:extLst>
              <a:ext uri="{FF2B5EF4-FFF2-40B4-BE49-F238E27FC236}">
                <a16:creationId xmlns:a16="http://schemas.microsoft.com/office/drawing/2014/main" id="{6BE70361-10A1-F011-8CA8-62E31A4A4F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3559" y="5874418"/>
            <a:ext cx="1628775" cy="3429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3F3E5D55-EEB2-9677-085D-B3BAA78E10CD}"/>
              </a:ext>
            </a:extLst>
          </p:cNvPr>
          <p:cNvSpPr txBox="1">
            <a:spLocks/>
          </p:cNvSpPr>
          <p:nvPr/>
        </p:nvSpPr>
        <p:spPr>
          <a:xfrm>
            <a:off x="946734" y="8634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v-SE" dirty="0">
              <a:latin typeface="Segoe UI"/>
              <a:cs typeface="Segoe UI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ACF85D4-926A-4408-051F-6B3A2A6E735A}"/>
              </a:ext>
            </a:extLst>
          </p:cNvPr>
          <p:cNvSpPr txBox="1">
            <a:spLocks/>
          </p:cNvSpPr>
          <p:nvPr/>
        </p:nvSpPr>
        <p:spPr>
          <a:xfrm>
            <a:off x="828040" y="2777980"/>
            <a:ext cx="10515600" cy="30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sv-SE" dirty="0">
              <a:latin typeface="Segoe UI"/>
              <a:ea typeface="+mn-lt"/>
              <a:cs typeface="Segoe UI"/>
            </a:endParaRPr>
          </a:p>
        </p:txBody>
      </p:sp>
      <p:sp>
        <p:nvSpPr>
          <p:cNvPr id="6" name="Rubrik 1">
            <a:extLst>
              <a:ext uri="{FF2B5EF4-FFF2-40B4-BE49-F238E27FC236}">
                <a16:creationId xmlns:a16="http://schemas.microsoft.com/office/drawing/2014/main" id="{D021C490-A9B4-D565-2D84-EC50EADF2043}"/>
              </a:ext>
            </a:extLst>
          </p:cNvPr>
          <p:cNvSpPr txBox="1">
            <a:spLocks/>
          </p:cNvSpPr>
          <p:nvPr/>
        </p:nvSpPr>
        <p:spPr>
          <a:xfrm>
            <a:off x="946734" y="5686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b="1" dirty="0">
                <a:latin typeface="Segoe UI"/>
                <a:ea typeface="+mj-lt"/>
                <a:cs typeface="Segoe UI"/>
              </a:rPr>
              <a:t>Relationsdatabas</a:t>
            </a:r>
            <a:endParaRPr lang="sv-SE" dirty="0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7CE26A84-E348-F487-D53D-804A558445E8}"/>
              </a:ext>
            </a:extLst>
          </p:cNvPr>
          <p:cNvSpPr txBox="1">
            <a:spLocks/>
          </p:cNvSpPr>
          <p:nvPr/>
        </p:nvSpPr>
        <p:spPr>
          <a:xfrm>
            <a:off x="946734" y="2667804"/>
            <a:ext cx="10515600" cy="27277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sv-SE" dirty="0">
                <a:latin typeface="Segoe UI"/>
                <a:cs typeface="Segoe UI"/>
              </a:rPr>
              <a:t>ERD(</a:t>
            </a:r>
            <a:r>
              <a:rPr lang="en-GB" dirty="0" err="1">
                <a:hlinkClick r:id="rId6"/>
              </a:rPr>
              <a:t>NetOnNet</a:t>
            </a:r>
            <a:r>
              <a:rPr lang="sv-SE" dirty="0">
                <a:latin typeface="Segoe UI"/>
                <a:cs typeface="Segoe UI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sv-SE" dirty="0">
                <a:latin typeface="Segoe UI"/>
                <a:cs typeface="Segoe UI"/>
              </a:rPr>
              <a:t>SQL-koden(skapa databasen)</a:t>
            </a:r>
          </a:p>
        </p:txBody>
      </p:sp>
    </p:spTree>
    <p:extLst>
      <p:ext uri="{BB962C8B-B14F-4D97-AF65-F5344CB8AC3E}">
        <p14:creationId xmlns:p14="http://schemas.microsoft.com/office/powerpoint/2010/main" val="1904644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0F0FC-F9E8-32FD-35F3-0E570FEF0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4C4C9638-C166-B534-36AA-7790C43BD388}"/>
              </a:ext>
            </a:extLst>
          </p:cNvPr>
          <p:cNvSpPr/>
          <p:nvPr/>
        </p:nvSpPr>
        <p:spPr>
          <a:xfrm>
            <a:off x="508000" y="497840"/>
            <a:ext cx="11155680" cy="588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5" name="Bild 4" descr="Netonnet Logo">
            <a:extLst>
              <a:ext uri="{FF2B5EF4-FFF2-40B4-BE49-F238E27FC236}">
                <a16:creationId xmlns:a16="http://schemas.microsoft.com/office/drawing/2014/main" id="{BF720BCF-352F-2189-B4D0-5D742D610E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3559" y="5874418"/>
            <a:ext cx="1628775" cy="3429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6B16D7C5-1379-4912-9EF4-A3FA996FE09D}"/>
              </a:ext>
            </a:extLst>
          </p:cNvPr>
          <p:cNvSpPr txBox="1">
            <a:spLocks/>
          </p:cNvSpPr>
          <p:nvPr/>
        </p:nvSpPr>
        <p:spPr>
          <a:xfrm>
            <a:off x="946734" y="8634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v-SE" dirty="0">
              <a:latin typeface="Segoe UI"/>
              <a:cs typeface="Segoe UI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A49F342-FE22-63B3-B5B3-516804E23673}"/>
              </a:ext>
            </a:extLst>
          </p:cNvPr>
          <p:cNvSpPr txBox="1">
            <a:spLocks/>
          </p:cNvSpPr>
          <p:nvPr/>
        </p:nvSpPr>
        <p:spPr>
          <a:xfrm>
            <a:off x="828040" y="2777980"/>
            <a:ext cx="10515600" cy="30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sv-SE" dirty="0">
              <a:latin typeface="Segoe UI"/>
              <a:ea typeface="+mn-lt"/>
              <a:cs typeface="Segoe UI"/>
            </a:endParaRPr>
          </a:p>
        </p:txBody>
      </p:sp>
      <p:sp>
        <p:nvSpPr>
          <p:cNvPr id="6" name="Rubrik 1">
            <a:extLst>
              <a:ext uri="{FF2B5EF4-FFF2-40B4-BE49-F238E27FC236}">
                <a16:creationId xmlns:a16="http://schemas.microsoft.com/office/drawing/2014/main" id="{1C9D0F07-52B0-F128-C20C-C5C693B982FC}"/>
              </a:ext>
            </a:extLst>
          </p:cNvPr>
          <p:cNvSpPr txBox="1">
            <a:spLocks/>
          </p:cNvSpPr>
          <p:nvPr/>
        </p:nvSpPr>
        <p:spPr>
          <a:xfrm>
            <a:off x="946734" y="5686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b="1" dirty="0">
                <a:latin typeface="Segoe UI"/>
                <a:ea typeface="+mj-lt"/>
                <a:cs typeface="Segoe UI"/>
              </a:rPr>
              <a:t>Analysdatabas</a:t>
            </a:r>
            <a:endParaRPr lang="sv-SE" dirty="0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72D6DFF7-B928-7641-6672-27206F09BFBD}"/>
              </a:ext>
            </a:extLst>
          </p:cNvPr>
          <p:cNvSpPr txBox="1">
            <a:spLocks/>
          </p:cNvSpPr>
          <p:nvPr/>
        </p:nvSpPr>
        <p:spPr>
          <a:xfrm>
            <a:off x="946734" y="2667804"/>
            <a:ext cx="10515600" cy="27277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sv-SE" dirty="0">
                <a:latin typeface="Segoe UI"/>
                <a:cs typeface="Segoe UI"/>
              </a:rPr>
              <a:t>ERD(</a:t>
            </a:r>
            <a:r>
              <a:rPr lang="en-GB" dirty="0">
                <a:hlinkClick r:id="rId6"/>
              </a:rPr>
              <a:t>Star and Snowflake - v6 FINAL</a:t>
            </a:r>
            <a:r>
              <a:rPr lang="sv-SE" dirty="0">
                <a:latin typeface="Segoe UI"/>
                <a:cs typeface="Segoe UI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sv-SE" dirty="0">
                <a:latin typeface="Segoe UI"/>
                <a:cs typeface="Segoe UI"/>
              </a:rPr>
              <a:t>SQL-Starschema</a:t>
            </a:r>
          </a:p>
        </p:txBody>
      </p:sp>
    </p:spTree>
    <p:extLst>
      <p:ext uri="{BB962C8B-B14F-4D97-AF65-F5344CB8AC3E}">
        <p14:creationId xmlns:p14="http://schemas.microsoft.com/office/powerpoint/2010/main" val="428316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754D0-EFAF-895A-F9D1-A10642AD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15E26A95-6915-93F7-FD35-464D0FE2CACD}"/>
              </a:ext>
            </a:extLst>
          </p:cNvPr>
          <p:cNvSpPr/>
          <p:nvPr/>
        </p:nvSpPr>
        <p:spPr>
          <a:xfrm>
            <a:off x="508000" y="497840"/>
            <a:ext cx="11155680" cy="588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5" name="Bild 4" descr="Netonnet Logo">
            <a:extLst>
              <a:ext uri="{FF2B5EF4-FFF2-40B4-BE49-F238E27FC236}">
                <a16:creationId xmlns:a16="http://schemas.microsoft.com/office/drawing/2014/main" id="{770F735B-38ED-855D-A3B4-F05CA0DDAD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3559" y="5874418"/>
            <a:ext cx="1628775" cy="3429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B8D58520-F3A9-9FB1-D325-2982E7C93A7B}"/>
              </a:ext>
            </a:extLst>
          </p:cNvPr>
          <p:cNvSpPr txBox="1">
            <a:spLocks/>
          </p:cNvSpPr>
          <p:nvPr/>
        </p:nvSpPr>
        <p:spPr>
          <a:xfrm>
            <a:off x="946734" y="8634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v-SE" dirty="0">
              <a:latin typeface="Segoe UI"/>
              <a:cs typeface="Segoe UI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64CFAD8-9A13-35D1-F020-0F341D9BFABA}"/>
              </a:ext>
            </a:extLst>
          </p:cNvPr>
          <p:cNvSpPr txBox="1">
            <a:spLocks/>
          </p:cNvSpPr>
          <p:nvPr/>
        </p:nvSpPr>
        <p:spPr>
          <a:xfrm>
            <a:off x="828040" y="2777980"/>
            <a:ext cx="10515600" cy="30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sv-SE" dirty="0">
              <a:latin typeface="Segoe UI"/>
              <a:ea typeface="+mn-lt"/>
              <a:cs typeface="Segoe UI"/>
            </a:endParaRPr>
          </a:p>
        </p:txBody>
      </p:sp>
      <p:sp>
        <p:nvSpPr>
          <p:cNvPr id="6" name="Rubrik 1">
            <a:extLst>
              <a:ext uri="{FF2B5EF4-FFF2-40B4-BE49-F238E27FC236}">
                <a16:creationId xmlns:a16="http://schemas.microsoft.com/office/drawing/2014/main" id="{1C980704-64E0-4673-E8BB-72574D367BBB}"/>
              </a:ext>
            </a:extLst>
          </p:cNvPr>
          <p:cNvSpPr txBox="1">
            <a:spLocks/>
          </p:cNvSpPr>
          <p:nvPr/>
        </p:nvSpPr>
        <p:spPr>
          <a:xfrm>
            <a:off x="946734" y="5686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b="1" dirty="0">
                <a:latin typeface="Segoe UI"/>
                <a:ea typeface="+mj-lt"/>
                <a:cs typeface="Segoe UI"/>
              </a:rPr>
              <a:t>Analysdatabas</a:t>
            </a:r>
            <a:endParaRPr lang="sv-SE" dirty="0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077D464-4BB9-BAB5-5775-D71B6E450D5F}"/>
              </a:ext>
            </a:extLst>
          </p:cNvPr>
          <p:cNvSpPr txBox="1">
            <a:spLocks/>
          </p:cNvSpPr>
          <p:nvPr/>
        </p:nvSpPr>
        <p:spPr>
          <a:xfrm>
            <a:off x="946734" y="2667804"/>
            <a:ext cx="10515600" cy="27277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sv-SE" dirty="0">
                <a:latin typeface="Segoe UI"/>
                <a:cs typeface="Segoe UI"/>
              </a:rPr>
              <a:t>ERD(</a:t>
            </a:r>
            <a:r>
              <a:rPr lang="sv-SE" dirty="0" err="1">
                <a:latin typeface="Segoe UI"/>
                <a:cs typeface="Segoe UI"/>
              </a:rPr>
              <a:t>Snowflake</a:t>
            </a:r>
            <a:r>
              <a:rPr lang="sv-SE" dirty="0">
                <a:latin typeface="Segoe UI"/>
                <a:cs typeface="Segoe UI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sv-SE" dirty="0">
                <a:latin typeface="Segoe UI"/>
                <a:cs typeface="Segoe UI"/>
              </a:rPr>
              <a:t>SQL-</a:t>
            </a:r>
            <a:r>
              <a:rPr lang="sv-SE" dirty="0" err="1">
                <a:latin typeface="Segoe UI"/>
                <a:cs typeface="Segoe UI"/>
              </a:rPr>
              <a:t>Snowflake</a:t>
            </a:r>
            <a:endParaRPr lang="sv-SE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45963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FE83E-93EF-FBA8-F618-C0D0B669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1A69658B-9F9A-002C-E434-5969B255F086}"/>
              </a:ext>
            </a:extLst>
          </p:cNvPr>
          <p:cNvSpPr/>
          <p:nvPr/>
        </p:nvSpPr>
        <p:spPr>
          <a:xfrm>
            <a:off x="508000" y="497840"/>
            <a:ext cx="11155680" cy="588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5" name="Bild 4" descr="Netonnet Logo">
            <a:extLst>
              <a:ext uri="{FF2B5EF4-FFF2-40B4-BE49-F238E27FC236}">
                <a16:creationId xmlns:a16="http://schemas.microsoft.com/office/drawing/2014/main" id="{BACA7AF5-2785-9803-03FA-12C3587C5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3559" y="5874418"/>
            <a:ext cx="1628775" cy="3429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0F9DF22C-C753-B4CC-629E-FD0D2D9E11EB}"/>
              </a:ext>
            </a:extLst>
          </p:cNvPr>
          <p:cNvSpPr txBox="1">
            <a:spLocks/>
          </p:cNvSpPr>
          <p:nvPr/>
        </p:nvSpPr>
        <p:spPr>
          <a:xfrm>
            <a:off x="946734" y="8634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v-SE" dirty="0">
              <a:latin typeface="Segoe UI"/>
              <a:cs typeface="Segoe UI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AE43890-222E-DF75-6279-A72EEFB8ABD0}"/>
              </a:ext>
            </a:extLst>
          </p:cNvPr>
          <p:cNvSpPr txBox="1">
            <a:spLocks/>
          </p:cNvSpPr>
          <p:nvPr/>
        </p:nvSpPr>
        <p:spPr>
          <a:xfrm>
            <a:off x="828040" y="2777980"/>
            <a:ext cx="10515600" cy="30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sv-SE" dirty="0">
              <a:latin typeface="Segoe UI"/>
              <a:ea typeface="+mn-lt"/>
              <a:cs typeface="Segoe UI"/>
            </a:endParaRPr>
          </a:p>
        </p:txBody>
      </p:sp>
      <p:sp>
        <p:nvSpPr>
          <p:cNvPr id="6" name="Rubrik 1">
            <a:extLst>
              <a:ext uri="{FF2B5EF4-FFF2-40B4-BE49-F238E27FC236}">
                <a16:creationId xmlns:a16="http://schemas.microsoft.com/office/drawing/2014/main" id="{10210F99-32F3-5993-7C88-455541897D86}"/>
              </a:ext>
            </a:extLst>
          </p:cNvPr>
          <p:cNvSpPr txBox="1">
            <a:spLocks/>
          </p:cNvSpPr>
          <p:nvPr/>
        </p:nvSpPr>
        <p:spPr>
          <a:xfrm>
            <a:off x="946734" y="5686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b="1" dirty="0">
                <a:latin typeface="Segoe UI"/>
                <a:ea typeface="+mj-lt"/>
                <a:cs typeface="Segoe UI"/>
              </a:rPr>
              <a:t>Jämförelse</a:t>
            </a:r>
            <a:endParaRPr lang="sv-S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EC8671-3290-00C5-786F-B08313CE1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13" y="2494600"/>
            <a:ext cx="10519627" cy="264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70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E8859-4D5C-A627-DA2D-88C217351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0925A084-0CE0-8D09-C8FC-990807D6CD3E}"/>
              </a:ext>
            </a:extLst>
          </p:cNvPr>
          <p:cNvSpPr/>
          <p:nvPr/>
        </p:nvSpPr>
        <p:spPr>
          <a:xfrm>
            <a:off x="508000" y="497840"/>
            <a:ext cx="11155680" cy="5882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5" name="Bild 4" descr="Netonnet Logo">
            <a:extLst>
              <a:ext uri="{FF2B5EF4-FFF2-40B4-BE49-F238E27FC236}">
                <a16:creationId xmlns:a16="http://schemas.microsoft.com/office/drawing/2014/main" id="{38D136D3-51E9-EFFB-809E-9854F8424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3559" y="5874418"/>
            <a:ext cx="1628775" cy="3429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78C2DC3E-3106-1AC9-9B2F-D7C19CB1BEC5}"/>
              </a:ext>
            </a:extLst>
          </p:cNvPr>
          <p:cNvSpPr txBox="1">
            <a:spLocks/>
          </p:cNvSpPr>
          <p:nvPr/>
        </p:nvSpPr>
        <p:spPr>
          <a:xfrm>
            <a:off x="946734" y="8634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v-SE" dirty="0">
              <a:latin typeface="Segoe UI"/>
              <a:cs typeface="Segoe UI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B57B251-B709-2E15-675B-E61BEFC6BA54}"/>
              </a:ext>
            </a:extLst>
          </p:cNvPr>
          <p:cNvSpPr txBox="1">
            <a:spLocks/>
          </p:cNvSpPr>
          <p:nvPr/>
        </p:nvSpPr>
        <p:spPr>
          <a:xfrm>
            <a:off x="828040" y="2777980"/>
            <a:ext cx="10515600" cy="3013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sv-SE" dirty="0">
              <a:latin typeface="Segoe UI"/>
              <a:ea typeface="+mn-lt"/>
              <a:cs typeface="Segoe UI"/>
            </a:endParaRPr>
          </a:p>
        </p:txBody>
      </p:sp>
      <p:sp>
        <p:nvSpPr>
          <p:cNvPr id="6" name="Rubrik 1">
            <a:extLst>
              <a:ext uri="{FF2B5EF4-FFF2-40B4-BE49-F238E27FC236}">
                <a16:creationId xmlns:a16="http://schemas.microsoft.com/office/drawing/2014/main" id="{E6B6F2FA-B032-936B-987A-33765959483A}"/>
              </a:ext>
            </a:extLst>
          </p:cNvPr>
          <p:cNvSpPr txBox="1">
            <a:spLocks/>
          </p:cNvSpPr>
          <p:nvPr/>
        </p:nvSpPr>
        <p:spPr>
          <a:xfrm>
            <a:off x="946734" y="5686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b="1" dirty="0">
                <a:latin typeface="Segoe UI"/>
                <a:ea typeface="+mj-lt"/>
                <a:cs typeface="Segoe UI"/>
              </a:rPr>
              <a:t>Sammanfattning</a:t>
            </a:r>
            <a:endParaRPr lang="sv-SE" dirty="0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262267D1-B301-F005-67E5-3876C51EFFE3}"/>
              </a:ext>
            </a:extLst>
          </p:cNvPr>
          <p:cNvSpPr txBox="1">
            <a:spLocks/>
          </p:cNvSpPr>
          <p:nvPr/>
        </p:nvSpPr>
        <p:spPr>
          <a:xfrm>
            <a:off x="946734" y="2667804"/>
            <a:ext cx="10515600" cy="27277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>
                <a:latin typeface="Segoe UI"/>
                <a:ea typeface="+mn-lt"/>
                <a:cs typeface="Segoe UI"/>
              </a:rPr>
              <a:t>Vi designade en </a:t>
            </a:r>
            <a:r>
              <a:rPr lang="sv-SE" b="1" dirty="0">
                <a:latin typeface="Segoe UI"/>
                <a:ea typeface="+mn-lt"/>
                <a:cs typeface="Segoe UI"/>
              </a:rPr>
              <a:t>relationsdatabas</a:t>
            </a:r>
            <a:endParaRPr lang="sv-SE" dirty="0">
              <a:latin typeface="Segoe UI"/>
              <a:ea typeface="+mn-lt"/>
              <a:cs typeface="Segoe U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>
                <a:latin typeface="Segoe UI"/>
                <a:ea typeface="+mn-lt"/>
                <a:cs typeface="Segoe UI"/>
              </a:rPr>
              <a:t>Vi implementerade den i </a:t>
            </a:r>
            <a:r>
              <a:rPr lang="sv-SE" b="1" dirty="0">
                <a:latin typeface="Segoe UI"/>
                <a:ea typeface="+mn-lt"/>
                <a:cs typeface="Segoe UI"/>
              </a:rPr>
              <a:t>SQL</a:t>
            </a:r>
            <a:endParaRPr lang="sv-SE" dirty="0">
              <a:latin typeface="Segoe UI"/>
              <a:cs typeface="Segoe U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>
                <a:latin typeface="Segoe UI"/>
                <a:ea typeface="+mn-lt"/>
                <a:cs typeface="Segoe UI"/>
              </a:rPr>
              <a:t>Vi skapade ett </a:t>
            </a:r>
            <a:r>
              <a:rPr lang="sv-SE" b="1" dirty="0">
                <a:latin typeface="Segoe UI"/>
                <a:ea typeface="+mn-lt"/>
                <a:cs typeface="Segoe UI"/>
              </a:rPr>
              <a:t>Star och </a:t>
            </a:r>
            <a:r>
              <a:rPr lang="sv-SE" b="1" dirty="0" err="1">
                <a:latin typeface="Segoe UI"/>
                <a:ea typeface="+mn-lt"/>
                <a:cs typeface="Segoe UI"/>
              </a:rPr>
              <a:t>Snowflake</a:t>
            </a:r>
            <a:r>
              <a:rPr lang="sv-SE" b="1" dirty="0">
                <a:latin typeface="Segoe UI"/>
                <a:ea typeface="+mn-lt"/>
                <a:cs typeface="Segoe UI"/>
              </a:rPr>
              <a:t> schema</a:t>
            </a:r>
            <a:endParaRPr lang="sv-SE" dirty="0">
              <a:latin typeface="Segoe UI"/>
              <a:cs typeface="Segoe U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dirty="0">
                <a:latin typeface="Segoe UI"/>
                <a:ea typeface="+mn-lt"/>
                <a:cs typeface="Segoe UI"/>
              </a:rPr>
              <a:t>Databasen kan användas både för </a:t>
            </a:r>
            <a:r>
              <a:rPr lang="sv-SE" b="1" dirty="0">
                <a:latin typeface="Segoe UI"/>
                <a:ea typeface="+mn-lt"/>
                <a:cs typeface="Segoe UI"/>
              </a:rPr>
              <a:t>webbutiken och för analyser</a:t>
            </a:r>
            <a:endParaRPr lang="sv-SE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0024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7EE8D-9C7D-C2AD-9692-BC59BF01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9CB8BE29-A50B-6CA4-0B45-76D873792666}"/>
              </a:ext>
            </a:extLst>
          </p:cNvPr>
          <p:cNvSpPr/>
          <p:nvPr/>
        </p:nvSpPr>
        <p:spPr>
          <a:xfrm>
            <a:off x="0" y="4701230"/>
            <a:ext cx="12192000" cy="2153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8" name="Bild 7" descr="Netonnet Logo">
            <a:extLst>
              <a:ext uri="{FF2B5EF4-FFF2-40B4-BE49-F238E27FC236}">
                <a16:creationId xmlns:a16="http://schemas.microsoft.com/office/drawing/2014/main" id="{755B22C0-8FA7-3224-06D2-FA2BA9B4C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7692" y="1520190"/>
            <a:ext cx="8466455" cy="1734820"/>
          </a:xfrm>
          <a:prstGeom prst="rect">
            <a:avLst/>
          </a:pr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70333A64-FE27-C070-FB88-1C63A02EF24F}"/>
              </a:ext>
            </a:extLst>
          </p:cNvPr>
          <p:cNvSpPr txBox="1"/>
          <p:nvPr/>
        </p:nvSpPr>
        <p:spPr>
          <a:xfrm>
            <a:off x="2146104" y="5437897"/>
            <a:ext cx="788962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sv-SE" sz="6000" b="1" dirty="0">
                <a:latin typeface="Segoe UI"/>
                <a:cs typeface="Segoe UI"/>
              </a:rPr>
              <a:t>Tack för förtroendet!</a:t>
            </a:r>
          </a:p>
        </p:txBody>
      </p:sp>
    </p:spTree>
    <p:extLst>
      <p:ext uri="{BB962C8B-B14F-4D97-AF65-F5344CB8AC3E}">
        <p14:creationId xmlns:p14="http://schemas.microsoft.com/office/powerpoint/2010/main" val="4269794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246CFC2949624BAE2F3E9ED3A580FF" ma:contentTypeVersion="10" ma:contentTypeDescription="Skapa ett nytt dokument." ma:contentTypeScope="" ma:versionID="e2192b5b5a7bb46977528d99acd60938">
  <xsd:schema xmlns:xsd="http://www.w3.org/2001/XMLSchema" xmlns:xs="http://www.w3.org/2001/XMLSchema" xmlns:p="http://schemas.microsoft.com/office/2006/metadata/properties" xmlns:ns3="6910736d-d86f-4235-bb71-1b7044971cae" targetNamespace="http://schemas.microsoft.com/office/2006/metadata/properties" ma:root="true" ma:fieldsID="15e529b0f6d3543526bc09ab83723e0f" ns3:_="">
    <xsd:import namespace="6910736d-d86f-4235-bb71-1b7044971ca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10736d-d86f-4235-bb71-1b7044971c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910736d-d86f-4235-bb71-1b7044971cae" xsi:nil="true"/>
  </documentManagement>
</p:properties>
</file>

<file path=customXml/itemProps1.xml><?xml version="1.0" encoding="utf-8"?>
<ds:datastoreItem xmlns:ds="http://schemas.openxmlformats.org/officeDocument/2006/customXml" ds:itemID="{373003DB-997A-41DE-9C12-5C0A7F338C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80E848-8FD8-41E8-BCFE-FD8A5B5EE6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10736d-d86f-4235-bb71-1b7044971c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5B3E90-85EE-4A3A-9F15-20AA28F72DBC}">
  <ds:schemaRefs>
    <ds:schemaRef ds:uri="http://www.w3.org/XML/1998/namespace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910736d-d86f-4235-bb71-1b7044971ca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2453</TotalTime>
  <Words>144</Words>
  <Application>Microsoft Office PowerPoint</Application>
  <PresentationFormat>Bredbild</PresentationFormat>
  <Paragraphs>38</Paragraphs>
  <Slides>10</Slides>
  <Notes>7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Segoe UI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Ilena</dc:creator>
  <cp:lastModifiedBy>Dargys Pérez (student syh)</cp:lastModifiedBy>
  <cp:revision>265</cp:revision>
  <dcterms:created xsi:type="dcterms:W3CDTF">2026-03-08T09:43:03Z</dcterms:created>
  <dcterms:modified xsi:type="dcterms:W3CDTF">2026-03-12T13:14:24Z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0x010100D8246CFC2949624BAE2F3E9ED3A580FF</vt:lpwstr>
  </property>
</Properties>
</file>